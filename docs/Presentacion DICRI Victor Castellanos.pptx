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Courier Prime" charset="1" panose="00000509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202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5400000">
            <a:off x="-3294138" y="4385494"/>
            <a:ext cx="9650362" cy="0"/>
          </a:xfrm>
          <a:prstGeom prst="line">
            <a:avLst/>
          </a:prstGeom>
          <a:ln cap="flat" w="95250">
            <a:solidFill>
              <a:srgbClr val="2D2D3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3010187" y="1986401"/>
            <a:ext cx="10718760" cy="3053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79"/>
              </a:lnSpc>
            </a:pPr>
            <a:r>
              <a:rPr lang="en-US" sz="6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Prueba</a:t>
            </a:r>
          </a:p>
          <a:p>
            <a:pPr algn="l">
              <a:lnSpc>
                <a:spcPts val="7979"/>
              </a:lnSpc>
            </a:pPr>
            <a:r>
              <a:rPr lang="en-US" sz="6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Técnica: Sistema DICRI {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897738" y="7294760"/>
            <a:ext cx="2471972" cy="1034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79"/>
              </a:lnSpc>
            </a:pPr>
            <a:r>
              <a:rPr lang="en-US" sz="6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897738" y="5308927"/>
            <a:ext cx="10747189" cy="1595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84"/>
              </a:lnSpc>
            </a:pPr>
            <a:r>
              <a:rPr lang="en-US" sz="456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&lt;Por="Jose Victor Castellanos Perez"/&gt;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762002" y="-102870"/>
            <a:ext cx="4230823" cy="10389870"/>
            <a:chOff x="0" y="0"/>
            <a:chExt cx="1543416" cy="37902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43416" cy="3790253"/>
            </a:xfrm>
            <a:custGeom>
              <a:avLst/>
              <a:gdLst/>
              <a:ahLst/>
              <a:cxnLst/>
              <a:rect r="r" b="b" t="t" l="l"/>
              <a:pathLst>
                <a:path h="3790253" w="1543416">
                  <a:moveTo>
                    <a:pt x="0" y="0"/>
                  </a:moveTo>
                  <a:lnTo>
                    <a:pt x="1543416" y="0"/>
                  </a:lnTo>
                  <a:lnTo>
                    <a:pt x="1543416" y="3790253"/>
                  </a:lnTo>
                  <a:lnTo>
                    <a:pt x="0" y="3790253"/>
                  </a:lnTo>
                  <a:close/>
                </a:path>
              </a:pathLst>
            </a:custGeom>
            <a:solidFill>
              <a:srgbClr val="2D2D35"/>
            </a:solidFill>
          </p:spPr>
        </p:sp>
      </p:grpSp>
      <p:sp>
        <p:nvSpPr>
          <p:cNvPr name="AutoShape 8" id="8"/>
          <p:cNvSpPr/>
          <p:nvPr/>
        </p:nvSpPr>
        <p:spPr>
          <a:xfrm rot="0">
            <a:off x="14666595" y="9210675"/>
            <a:ext cx="1539000" cy="0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diamond" len="lg" w="lg"/>
            <a:tailEnd type="arrow" len="sm" w="med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2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70578" y="-102870"/>
            <a:ext cx="9314578" cy="10389870"/>
            <a:chOff x="0" y="0"/>
            <a:chExt cx="3397983" cy="37902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397983" cy="3790253"/>
            </a:xfrm>
            <a:custGeom>
              <a:avLst/>
              <a:gdLst/>
              <a:ahLst/>
              <a:cxnLst/>
              <a:rect r="r" b="b" t="t" l="l"/>
              <a:pathLst>
                <a:path h="3790253" w="3397983">
                  <a:moveTo>
                    <a:pt x="0" y="0"/>
                  </a:moveTo>
                  <a:lnTo>
                    <a:pt x="3397983" y="0"/>
                  </a:lnTo>
                  <a:lnTo>
                    <a:pt x="3397983" y="3790253"/>
                  </a:lnTo>
                  <a:lnTo>
                    <a:pt x="0" y="3790253"/>
                  </a:lnTo>
                  <a:close/>
                </a:path>
              </a:pathLst>
            </a:custGeom>
            <a:solidFill>
              <a:srgbClr val="2D2D35"/>
            </a:solidFill>
          </p:spPr>
        </p:sp>
      </p:grpSp>
      <p:sp>
        <p:nvSpPr>
          <p:cNvPr name="AutoShape 4" id="4"/>
          <p:cNvSpPr/>
          <p:nvPr/>
        </p:nvSpPr>
        <p:spPr>
          <a:xfrm rot="5400000">
            <a:off x="6783951" y="3553290"/>
            <a:ext cx="7985953" cy="0"/>
          </a:xfrm>
          <a:prstGeom prst="line">
            <a:avLst/>
          </a:prstGeom>
          <a:ln cap="flat" w="95250">
            <a:solidFill>
              <a:srgbClr val="2D2D3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1315096" y="2513048"/>
            <a:ext cx="5944204" cy="5158035"/>
          </a:xfrm>
          <a:custGeom>
            <a:avLst/>
            <a:gdLst/>
            <a:ahLst/>
            <a:cxnLst/>
            <a:rect r="r" b="b" t="t" l="l"/>
            <a:pathLst>
              <a:path h="5158035" w="5944204">
                <a:moveTo>
                  <a:pt x="0" y="0"/>
                </a:moveTo>
                <a:lnTo>
                  <a:pt x="5944204" y="0"/>
                </a:lnTo>
                <a:lnTo>
                  <a:pt x="5944204" y="5158034"/>
                </a:lnTo>
                <a:lnTo>
                  <a:pt x="0" y="51580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686702"/>
            <a:ext cx="7031406" cy="1154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Requisitos cumplidos</a:t>
            </a:r>
          </a:p>
          <a:p>
            <a:pPr algn="l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{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557135" y="8675370"/>
            <a:ext cx="702165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87770" y="3430524"/>
            <a:ext cx="6988679" cy="3275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4"/>
              </a:lnSpc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Requisitos Técnicos Implementados </a:t>
            </a:r>
          </a:p>
          <a:p>
            <a:pPr algn="l">
              <a:lnSpc>
                <a:spcPts val="3264"/>
              </a:lnSpc>
            </a:pPr>
          </a:p>
          <a:p>
            <a:pPr algn="l">
              <a:lnSpc>
                <a:spcPts val="3264"/>
              </a:lnSpc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- Frontend con ReactJS </a:t>
            </a:r>
          </a:p>
          <a:p>
            <a:pPr algn="l">
              <a:lnSpc>
                <a:spcPts val="3264"/>
              </a:lnSpc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- Backend RESTful (NodeJS + Express) </a:t>
            </a:r>
          </a:p>
          <a:p>
            <a:pPr algn="l">
              <a:lnSpc>
                <a:spcPts val="3264"/>
              </a:lnSpc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- 17 Stored Procedures en SQL Server </a:t>
            </a:r>
          </a:p>
          <a:p>
            <a:pPr algn="l">
              <a:lnSpc>
                <a:spcPts val="3264"/>
              </a:lnSpc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- Despliegue con Docker </a:t>
            </a:r>
          </a:p>
          <a:p>
            <a:pPr algn="l">
              <a:lnSpc>
                <a:spcPts val="3264"/>
              </a:lnSpc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- Pruebas unitarias: 19/19 exitosas </a:t>
            </a:r>
          </a:p>
          <a:p>
            <a:pPr algn="l">
              <a:lnSpc>
                <a:spcPts val="3264"/>
              </a:lnSpc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- API documentada con Postman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2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70578" y="-102870"/>
            <a:ext cx="20112864" cy="10389870"/>
            <a:chOff x="0" y="0"/>
            <a:chExt cx="7337227" cy="37902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337227" cy="3790253"/>
            </a:xfrm>
            <a:custGeom>
              <a:avLst/>
              <a:gdLst/>
              <a:ahLst/>
              <a:cxnLst/>
              <a:rect r="r" b="b" t="t" l="l"/>
              <a:pathLst>
                <a:path h="3790253" w="7337227">
                  <a:moveTo>
                    <a:pt x="0" y="0"/>
                  </a:moveTo>
                  <a:lnTo>
                    <a:pt x="7337227" y="0"/>
                  </a:lnTo>
                  <a:lnTo>
                    <a:pt x="7337227" y="3790253"/>
                  </a:lnTo>
                  <a:lnTo>
                    <a:pt x="0" y="3790253"/>
                  </a:lnTo>
                  <a:close/>
                </a:path>
              </a:pathLst>
            </a:custGeom>
            <a:solidFill>
              <a:srgbClr val="2D2D35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3641191" y="1565740"/>
            <a:ext cx="11005619" cy="8034102"/>
          </a:xfrm>
          <a:custGeom>
            <a:avLst/>
            <a:gdLst/>
            <a:ahLst/>
            <a:cxnLst/>
            <a:rect r="r" b="b" t="t" l="l"/>
            <a:pathLst>
              <a:path h="8034102" w="11005619">
                <a:moveTo>
                  <a:pt x="0" y="0"/>
                </a:moveTo>
                <a:lnTo>
                  <a:pt x="11005618" y="0"/>
                </a:lnTo>
                <a:lnTo>
                  <a:pt x="11005618" y="8034102"/>
                </a:lnTo>
                <a:lnTo>
                  <a:pt x="0" y="80341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712300"/>
            <a:ext cx="7031406" cy="1725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Arquitectura del sistema</a:t>
            </a:r>
          </a:p>
          <a:p>
            <a:pPr algn="l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{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557135" y="8675370"/>
            <a:ext cx="702165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2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70578" y="-102870"/>
            <a:ext cx="9426394" cy="10389870"/>
            <a:chOff x="0" y="0"/>
            <a:chExt cx="3438774" cy="37902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38774" cy="3790253"/>
            </a:xfrm>
            <a:custGeom>
              <a:avLst/>
              <a:gdLst/>
              <a:ahLst/>
              <a:cxnLst/>
              <a:rect r="r" b="b" t="t" l="l"/>
              <a:pathLst>
                <a:path h="3790253" w="3438774">
                  <a:moveTo>
                    <a:pt x="0" y="0"/>
                  </a:moveTo>
                  <a:lnTo>
                    <a:pt x="3438774" y="0"/>
                  </a:lnTo>
                  <a:lnTo>
                    <a:pt x="3438774" y="3790253"/>
                  </a:lnTo>
                  <a:lnTo>
                    <a:pt x="0" y="3790253"/>
                  </a:lnTo>
                  <a:close/>
                </a:path>
              </a:pathLst>
            </a:custGeom>
            <a:solidFill>
              <a:srgbClr val="2D2D35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9144000" y="0"/>
            <a:ext cx="9541071" cy="10690275"/>
          </a:xfrm>
          <a:custGeom>
            <a:avLst/>
            <a:gdLst/>
            <a:ahLst/>
            <a:cxnLst/>
            <a:rect r="r" b="b" t="t" l="l"/>
            <a:pathLst>
              <a:path h="10690275" w="9541071">
                <a:moveTo>
                  <a:pt x="0" y="0"/>
                </a:moveTo>
                <a:lnTo>
                  <a:pt x="9541071" y="0"/>
                </a:lnTo>
                <a:lnTo>
                  <a:pt x="9541071" y="10690275"/>
                </a:lnTo>
                <a:lnTo>
                  <a:pt x="0" y="106902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712300"/>
            <a:ext cx="7031406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Modelo de datos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557135" y="8675370"/>
            <a:ext cx="702165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12058" y="3225737"/>
            <a:ext cx="6988679" cy="3685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4"/>
              </a:lnSpc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4 Tablas Principales </a:t>
            </a:r>
          </a:p>
          <a:p>
            <a:pPr algn="l">
              <a:lnSpc>
                <a:spcPts val="3264"/>
              </a:lnSpc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- Roles </a:t>
            </a:r>
          </a:p>
          <a:p>
            <a:pPr algn="l">
              <a:lnSpc>
                <a:spcPts val="3264"/>
              </a:lnSpc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- Usuario </a:t>
            </a:r>
          </a:p>
          <a:p>
            <a:pPr algn="l">
              <a:lnSpc>
                <a:spcPts val="3264"/>
              </a:lnSpc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- Expedientes </a:t>
            </a:r>
          </a:p>
          <a:p>
            <a:pPr algn="l">
              <a:lnSpc>
                <a:spcPts val="3264"/>
              </a:lnSpc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- Indicios 17 Stored Procedures </a:t>
            </a:r>
          </a:p>
          <a:p>
            <a:pPr algn="l">
              <a:lnSpc>
                <a:spcPts val="3264"/>
              </a:lnSpc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- Autenticación (2) </a:t>
            </a:r>
          </a:p>
          <a:p>
            <a:pPr algn="l">
              <a:lnSpc>
                <a:spcPts val="3264"/>
              </a:lnSpc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- Expedientes (7) </a:t>
            </a:r>
          </a:p>
          <a:p>
            <a:pPr algn="l">
              <a:lnSpc>
                <a:spcPts val="3264"/>
              </a:lnSpc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- Indicios (4) </a:t>
            </a:r>
          </a:p>
          <a:p>
            <a:pPr algn="l">
              <a:lnSpc>
                <a:spcPts val="3264"/>
              </a:lnSpc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- Reportes (4)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2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70578" y="-102870"/>
            <a:ext cx="9426394" cy="10389870"/>
            <a:chOff x="0" y="0"/>
            <a:chExt cx="3438774" cy="37902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38774" cy="3790253"/>
            </a:xfrm>
            <a:custGeom>
              <a:avLst/>
              <a:gdLst/>
              <a:ahLst/>
              <a:cxnLst/>
              <a:rect r="r" b="b" t="t" l="l"/>
              <a:pathLst>
                <a:path h="3790253" w="3438774">
                  <a:moveTo>
                    <a:pt x="0" y="0"/>
                  </a:moveTo>
                  <a:lnTo>
                    <a:pt x="3438774" y="0"/>
                  </a:lnTo>
                  <a:lnTo>
                    <a:pt x="3438774" y="3790253"/>
                  </a:lnTo>
                  <a:lnTo>
                    <a:pt x="0" y="3790253"/>
                  </a:lnTo>
                  <a:close/>
                </a:path>
              </a:pathLst>
            </a:custGeom>
            <a:solidFill>
              <a:srgbClr val="2D2D35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0709076" y="3331939"/>
            <a:ext cx="6747150" cy="3520252"/>
          </a:xfrm>
          <a:custGeom>
            <a:avLst/>
            <a:gdLst/>
            <a:ahLst/>
            <a:cxnLst/>
            <a:rect r="r" b="b" t="t" l="l"/>
            <a:pathLst>
              <a:path h="3520252" w="6747150">
                <a:moveTo>
                  <a:pt x="0" y="0"/>
                </a:moveTo>
                <a:lnTo>
                  <a:pt x="6747150" y="0"/>
                </a:lnTo>
                <a:lnTo>
                  <a:pt x="6747150" y="3520252"/>
                </a:lnTo>
                <a:lnTo>
                  <a:pt x="0" y="35202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712300"/>
            <a:ext cx="7031406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API REST - ENDPOINTS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557135" y="8675370"/>
            <a:ext cx="702165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740173"/>
            <a:ext cx="6988679" cy="7780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4"/>
              </a:lnSpc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20 Endpoints Documentados</a:t>
            </a:r>
          </a:p>
          <a:p>
            <a:pPr algn="l">
              <a:lnSpc>
                <a:spcPts val="3264"/>
              </a:lnSpc>
            </a:pPr>
          </a:p>
          <a:p>
            <a:pPr algn="l">
              <a:lnSpc>
                <a:spcPts val="3264"/>
              </a:lnSpc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Autenticación</a:t>
            </a:r>
          </a:p>
          <a:p>
            <a:pPr algn="l">
              <a:lnSpc>
                <a:spcPts val="3264"/>
              </a:lnSpc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- POST /api/auth/login</a:t>
            </a:r>
          </a:p>
          <a:p>
            <a:pPr algn="l">
              <a:lnSpc>
                <a:spcPts val="3264"/>
              </a:lnSpc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- POST /api/auth/register</a:t>
            </a:r>
          </a:p>
          <a:p>
            <a:pPr algn="l">
              <a:lnSpc>
                <a:spcPts val="3264"/>
              </a:lnSpc>
            </a:pPr>
          </a:p>
          <a:p>
            <a:pPr algn="l">
              <a:lnSpc>
                <a:spcPts val="3264"/>
              </a:lnSpc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Expedientes</a:t>
            </a:r>
          </a:p>
          <a:p>
            <a:pPr algn="l">
              <a:lnSpc>
                <a:spcPts val="3264"/>
              </a:lnSpc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- POST, GET, PUT /api/expedientes</a:t>
            </a:r>
          </a:p>
          <a:p>
            <a:pPr algn="l">
              <a:lnSpc>
                <a:spcPts val="3264"/>
              </a:lnSpc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- POST /api/expedientes/:id/enviar-revision</a:t>
            </a:r>
          </a:p>
          <a:p>
            <a:pPr algn="l">
              <a:lnSpc>
                <a:spcPts val="3264"/>
              </a:lnSpc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- POST /api/expedientes/:id/aprobar</a:t>
            </a:r>
          </a:p>
          <a:p>
            <a:pPr algn="l">
              <a:lnSpc>
                <a:spcPts val="3264"/>
              </a:lnSpc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- POST /api/expedientes/:id/rechazar</a:t>
            </a:r>
          </a:p>
          <a:p>
            <a:pPr algn="l">
              <a:lnSpc>
                <a:spcPts val="3264"/>
              </a:lnSpc>
            </a:pPr>
          </a:p>
          <a:p>
            <a:pPr algn="l">
              <a:lnSpc>
                <a:spcPts val="3264"/>
              </a:lnSpc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Indicios</a:t>
            </a:r>
          </a:p>
          <a:p>
            <a:pPr algn="l">
              <a:lnSpc>
                <a:spcPts val="3264"/>
              </a:lnSpc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- POST, GET, PUT, DELETE /api/indicios</a:t>
            </a:r>
          </a:p>
          <a:p>
            <a:pPr algn="l">
              <a:lnSpc>
                <a:spcPts val="3264"/>
              </a:lnSpc>
            </a:pPr>
          </a:p>
          <a:p>
            <a:pPr algn="l">
              <a:lnSpc>
                <a:spcPts val="3264"/>
              </a:lnSpc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Reportes</a:t>
            </a:r>
          </a:p>
          <a:p>
            <a:pPr algn="l">
              <a:lnSpc>
                <a:spcPts val="3264"/>
              </a:lnSpc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- GET /api/reportes/estadisticas</a:t>
            </a:r>
          </a:p>
          <a:p>
            <a:pPr algn="l">
              <a:lnSpc>
                <a:spcPts val="3264"/>
              </a:lnSpc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- GET /api/reportes/reporte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2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70578" y="-102870"/>
            <a:ext cx="9426394" cy="10389870"/>
            <a:chOff x="0" y="0"/>
            <a:chExt cx="3438774" cy="37902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38774" cy="3790253"/>
            </a:xfrm>
            <a:custGeom>
              <a:avLst/>
              <a:gdLst/>
              <a:ahLst/>
              <a:cxnLst/>
              <a:rect r="r" b="b" t="t" l="l"/>
              <a:pathLst>
                <a:path h="3790253" w="3438774">
                  <a:moveTo>
                    <a:pt x="0" y="0"/>
                  </a:moveTo>
                  <a:lnTo>
                    <a:pt x="3438774" y="0"/>
                  </a:lnTo>
                  <a:lnTo>
                    <a:pt x="3438774" y="3790253"/>
                  </a:lnTo>
                  <a:lnTo>
                    <a:pt x="0" y="3790253"/>
                  </a:lnTo>
                  <a:close/>
                </a:path>
              </a:pathLst>
            </a:custGeom>
            <a:solidFill>
              <a:srgbClr val="2D2D35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259451" y="1587517"/>
            <a:ext cx="7628968" cy="8314951"/>
          </a:xfrm>
          <a:custGeom>
            <a:avLst/>
            <a:gdLst/>
            <a:ahLst/>
            <a:cxnLst/>
            <a:rect r="r" b="b" t="t" l="l"/>
            <a:pathLst>
              <a:path h="8314951" w="7628968">
                <a:moveTo>
                  <a:pt x="0" y="0"/>
                </a:moveTo>
                <a:lnTo>
                  <a:pt x="7628968" y="0"/>
                </a:lnTo>
                <a:lnTo>
                  <a:pt x="7628968" y="8314952"/>
                </a:lnTo>
                <a:lnTo>
                  <a:pt x="0" y="83149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670465" y="1764282"/>
            <a:ext cx="7044377" cy="7494018"/>
          </a:xfrm>
          <a:custGeom>
            <a:avLst/>
            <a:gdLst/>
            <a:ahLst/>
            <a:cxnLst/>
            <a:rect r="r" b="b" t="t" l="l"/>
            <a:pathLst>
              <a:path h="7494018" w="7044377">
                <a:moveTo>
                  <a:pt x="0" y="0"/>
                </a:moveTo>
                <a:lnTo>
                  <a:pt x="7044377" y="0"/>
                </a:lnTo>
                <a:lnTo>
                  <a:pt x="7044377" y="7494018"/>
                </a:lnTo>
                <a:lnTo>
                  <a:pt x="0" y="74940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712300"/>
            <a:ext cx="7031406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Pruebas con postman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557135" y="8675370"/>
            <a:ext cx="702165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2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70578" y="-102870"/>
            <a:ext cx="9426394" cy="10389870"/>
            <a:chOff x="0" y="0"/>
            <a:chExt cx="3438774" cy="37902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38774" cy="3790253"/>
            </a:xfrm>
            <a:custGeom>
              <a:avLst/>
              <a:gdLst/>
              <a:ahLst/>
              <a:cxnLst/>
              <a:rect r="r" b="b" t="t" l="l"/>
              <a:pathLst>
                <a:path h="3790253" w="3438774">
                  <a:moveTo>
                    <a:pt x="0" y="0"/>
                  </a:moveTo>
                  <a:lnTo>
                    <a:pt x="3438774" y="0"/>
                  </a:lnTo>
                  <a:lnTo>
                    <a:pt x="3438774" y="3790253"/>
                  </a:lnTo>
                  <a:lnTo>
                    <a:pt x="0" y="3790253"/>
                  </a:lnTo>
                  <a:close/>
                </a:path>
              </a:pathLst>
            </a:custGeom>
            <a:solidFill>
              <a:srgbClr val="2D2D35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556125" y="1412858"/>
            <a:ext cx="5976556" cy="8522718"/>
          </a:xfrm>
          <a:custGeom>
            <a:avLst/>
            <a:gdLst/>
            <a:ahLst/>
            <a:cxnLst/>
            <a:rect r="r" b="b" t="t" l="l"/>
            <a:pathLst>
              <a:path h="8522718" w="5976556">
                <a:moveTo>
                  <a:pt x="0" y="0"/>
                </a:moveTo>
                <a:lnTo>
                  <a:pt x="5976556" y="0"/>
                </a:lnTo>
                <a:lnTo>
                  <a:pt x="5976556" y="8522718"/>
                </a:lnTo>
                <a:lnTo>
                  <a:pt x="0" y="85227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403954" y="994240"/>
            <a:ext cx="6153181" cy="8487147"/>
          </a:xfrm>
          <a:custGeom>
            <a:avLst/>
            <a:gdLst/>
            <a:ahLst/>
            <a:cxnLst/>
            <a:rect r="r" b="b" t="t" l="l"/>
            <a:pathLst>
              <a:path h="8487147" w="6153181">
                <a:moveTo>
                  <a:pt x="0" y="0"/>
                </a:moveTo>
                <a:lnTo>
                  <a:pt x="6153181" y="0"/>
                </a:lnTo>
                <a:lnTo>
                  <a:pt x="6153181" y="8487147"/>
                </a:lnTo>
                <a:lnTo>
                  <a:pt x="0" y="84871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712300"/>
            <a:ext cx="7031406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Pruebas con postman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557135" y="8675370"/>
            <a:ext cx="702165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2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70578" y="-102870"/>
            <a:ext cx="9426394" cy="10389870"/>
            <a:chOff x="0" y="0"/>
            <a:chExt cx="3438774" cy="37902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38774" cy="3790253"/>
            </a:xfrm>
            <a:custGeom>
              <a:avLst/>
              <a:gdLst/>
              <a:ahLst/>
              <a:cxnLst/>
              <a:rect r="r" b="b" t="t" l="l"/>
              <a:pathLst>
                <a:path h="3790253" w="3438774">
                  <a:moveTo>
                    <a:pt x="0" y="0"/>
                  </a:moveTo>
                  <a:lnTo>
                    <a:pt x="3438774" y="0"/>
                  </a:lnTo>
                  <a:lnTo>
                    <a:pt x="3438774" y="3790253"/>
                  </a:lnTo>
                  <a:lnTo>
                    <a:pt x="0" y="3790253"/>
                  </a:lnTo>
                  <a:close/>
                </a:path>
              </a:pathLst>
            </a:custGeom>
            <a:solidFill>
              <a:srgbClr val="2D2D35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5233371" y="1748889"/>
            <a:ext cx="8044892" cy="7726282"/>
          </a:xfrm>
          <a:custGeom>
            <a:avLst/>
            <a:gdLst/>
            <a:ahLst/>
            <a:cxnLst/>
            <a:rect r="r" b="b" t="t" l="l"/>
            <a:pathLst>
              <a:path h="7726282" w="8044892">
                <a:moveTo>
                  <a:pt x="0" y="0"/>
                </a:moveTo>
                <a:lnTo>
                  <a:pt x="8044892" y="0"/>
                </a:lnTo>
                <a:lnTo>
                  <a:pt x="8044892" y="7726282"/>
                </a:lnTo>
                <a:lnTo>
                  <a:pt x="0" y="77262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712300"/>
            <a:ext cx="7031406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Roles y permisos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557135" y="8675370"/>
            <a:ext cx="702165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2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70578" y="-102870"/>
            <a:ext cx="9426394" cy="10389870"/>
            <a:chOff x="0" y="0"/>
            <a:chExt cx="3438774" cy="37902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38774" cy="3790253"/>
            </a:xfrm>
            <a:custGeom>
              <a:avLst/>
              <a:gdLst/>
              <a:ahLst/>
              <a:cxnLst/>
              <a:rect r="r" b="b" t="t" l="l"/>
              <a:pathLst>
                <a:path h="3790253" w="3438774">
                  <a:moveTo>
                    <a:pt x="0" y="0"/>
                  </a:moveTo>
                  <a:lnTo>
                    <a:pt x="3438774" y="0"/>
                  </a:lnTo>
                  <a:lnTo>
                    <a:pt x="3438774" y="3790253"/>
                  </a:lnTo>
                  <a:lnTo>
                    <a:pt x="0" y="3790253"/>
                  </a:lnTo>
                  <a:close/>
                </a:path>
              </a:pathLst>
            </a:custGeom>
            <a:solidFill>
              <a:srgbClr val="2D2D35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1043264" y="4093579"/>
            <a:ext cx="5513871" cy="2099842"/>
          </a:xfrm>
          <a:custGeom>
            <a:avLst/>
            <a:gdLst/>
            <a:ahLst/>
            <a:cxnLst/>
            <a:rect r="r" b="b" t="t" l="l"/>
            <a:pathLst>
              <a:path h="2099842" w="5513871">
                <a:moveTo>
                  <a:pt x="0" y="0"/>
                </a:moveTo>
                <a:lnTo>
                  <a:pt x="5513871" y="0"/>
                </a:lnTo>
                <a:lnTo>
                  <a:pt x="5513871" y="2099842"/>
                </a:lnTo>
                <a:lnTo>
                  <a:pt x="0" y="20998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71427" y="1638780"/>
            <a:ext cx="7031406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Pruebas unitarias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557135" y="8675370"/>
            <a:ext cx="702165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90903" y="3273658"/>
            <a:ext cx="6988679" cy="4504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4"/>
              </a:lnSpc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Framework: Jest Resultados </a:t>
            </a:r>
          </a:p>
          <a:p>
            <a:pPr algn="l">
              <a:lnSpc>
                <a:spcPts val="3264"/>
              </a:lnSpc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- 19 pruebas implementadas </a:t>
            </a:r>
          </a:p>
          <a:p>
            <a:pPr algn="l">
              <a:lnSpc>
                <a:spcPts val="3264"/>
              </a:lnSpc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- 19 pruebas exitosas </a:t>
            </a:r>
          </a:p>
          <a:p>
            <a:pPr algn="l">
              <a:lnSpc>
                <a:spcPts val="3264"/>
              </a:lnSpc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- 100% de éxito </a:t>
            </a:r>
          </a:p>
          <a:p>
            <a:pPr algn="l">
              <a:lnSpc>
                <a:spcPts val="3264"/>
              </a:lnSpc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- Tiempo: 1.29 segundos  </a:t>
            </a:r>
          </a:p>
          <a:p>
            <a:pPr algn="l">
              <a:lnSpc>
                <a:spcPts val="3264"/>
              </a:lnSpc>
            </a:pPr>
          </a:p>
          <a:p>
            <a:pPr algn="l">
              <a:lnSpc>
                <a:spcPts val="3264"/>
              </a:lnSpc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Cobertura:</a:t>
            </a:r>
          </a:p>
          <a:p>
            <a:pPr algn="l">
              <a:lnSpc>
                <a:spcPts val="3264"/>
              </a:lnSpc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- Autenticación </a:t>
            </a:r>
          </a:p>
          <a:p>
            <a:pPr algn="l">
              <a:lnSpc>
                <a:spcPts val="3264"/>
              </a:lnSpc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- Expedientes </a:t>
            </a:r>
          </a:p>
          <a:p>
            <a:pPr algn="l">
              <a:lnSpc>
                <a:spcPts val="3264"/>
              </a:lnSpc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- Validaciones </a:t>
            </a:r>
          </a:p>
          <a:p>
            <a:pPr algn="l">
              <a:lnSpc>
                <a:spcPts val="3264"/>
              </a:lnSpc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- Utilidades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2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686252"/>
            <a:ext cx="9122035" cy="4914496"/>
          </a:xfrm>
          <a:custGeom>
            <a:avLst/>
            <a:gdLst/>
            <a:ahLst/>
            <a:cxnLst/>
            <a:rect r="r" b="b" t="t" l="l"/>
            <a:pathLst>
              <a:path h="4914496" w="9122035">
                <a:moveTo>
                  <a:pt x="0" y="0"/>
                </a:moveTo>
                <a:lnTo>
                  <a:pt x="9122035" y="0"/>
                </a:lnTo>
                <a:lnTo>
                  <a:pt x="9122035" y="4914496"/>
                </a:lnTo>
                <a:lnTo>
                  <a:pt x="0" y="49144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047750"/>
            <a:ext cx="7031406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Despliegue en docker {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724752" y="2773299"/>
            <a:ext cx="5534548" cy="4721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4"/>
              </a:lnSpc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3 Contenedores </a:t>
            </a:r>
          </a:p>
          <a:p>
            <a:pPr algn="l">
              <a:lnSpc>
                <a:spcPts val="2904"/>
              </a:lnSpc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dicri-frontend (80) </a:t>
            </a:r>
          </a:p>
          <a:p>
            <a:pPr algn="l">
              <a:lnSpc>
                <a:spcPts val="2904"/>
              </a:lnSpc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dicri-backend (3000) </a:t>
            </a:r>
          </a:p>
          <a:p>
            <a:pPr algn="l">
              <a:lnSpc>
                <a:spcPts val="2904"/>
              </a:lnSpc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icri-sqlserver (1433) </a:t>
            </a:r>
          </a:p>
          <a:p>
            <a:pPr algn="l">
              <a:lnSpc>
                <a:spcPts val="2904"/>
              </a:lnSpc>
            </a:pPr>
          </a:p>
          <a:p>
            <a:pPr algn="l">
              <a:lnSpc>
                <a:spcPts val="2904"/>
              </a:lnSpc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Comandos:</a:t>
            </a:r>
          </a:p>
          <a:p>
            <a:pPr algn="l">
              <a:lnSpc>
                <a:spcPts val="2904"/>
              </a:lnSpc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docker-compose up -d --build docker-compose down </a:t>
            </a:r>
          </a:p>
          <a:p>
            <a:pPr algn="l">
              <a:lnSpc>
                <a:spcPts val="2904"/>
              </a:lnSpc>
            </a:pPr>
          </a:p>
          <a:p>
            <a:pPr algn="l">
              <a:lnSpc>
                <a:spcPts val="2904"/>
              </a:lnSpc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Ventajas: </a:t>
            </a:r>
          </a:p>
          <a:p>
            <a:pPr algn="l">
              <a:lnSpc>
                <a:spcPts val="2904"/>
              </a:lnSpc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- Portabilidad </a:t>
            </a:r>
          </a:p>
          <a:p>
            <a:pPr algn="l">
              <a:lnSpc>
                <a:spcPts val="2904"/>
              </a:lnSpc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- Instalación simplificada </a:t>
            </a:r>
          </a:p>
          <a:p>
            <a:pPr algn="l">
              <a:lnSpc>
                <a:spcPts val="2904"/>
              </a:lnSpc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- Volúmenes persistentes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557135" y="8675370"/>
            <a:ext cx="702165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2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40352" y="2498438"/>
            <a:ext cx="6163456" cy="6458872"/>
          </a:xfrm>
          <a:custGeom>
            <a:avLst/>
            <a:gdLst/>
            <a:ahLst/>
            <a:cxnLst/>
            <a:rect r="r" b="b" t="t" l="l"/>
            <a:pathLst>
              <a:path h="6458872" w="6163456">
                <a:moveTo>
                  <a:pt x="0" y="0"/>
                </a:moveTo>
                <a:lnTo>
                  <a:pt x="6163456" y="0"/>
                </a:lnTo>
                <a:lnTo>
                  <a:pt x="6163456" y="6458872"/>
                </a:lnTo>
                <a:lnTo>
                  <a:pt x="0" y="64588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516997" y="2904820"/>
            <a:ext cx="10227894" cy="5646109"/>
          </a:xfrm>
          <a:custGeom>
            <a:avLst/>
            <a:gdLst/>
            <a:ahLst/>
            <a:cxnLst/>
            <a:rect r="r" b="b" t="t" l="l"/>
            <a:pathLst>
              <a:path h="5646109" w="10227894">
                <a:moveTo>
                  <a:pt x="0" y="0"/>
                </a:moveTo>
                <a:lnTo>
                  <a:pt x="10227894" y="0"/>
                </a:lnTo>
                <a:lnTo>
                  <a:pt x="10227894" y="5646109"/>
                </a:lnTo>
                <a:lnTo>
                  <a:pt x="0" y="56461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047750"/>
            <a:ext cx="7031406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Capturas del sistema {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557135" y="8675370"/>
            <a:ext cx="702165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2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90101" y="2524970"/>
            <a:ext cx="6874209" cy="6590619"/>
          </a:xfrm>
          <a:custGeom>
            <a:avLst/>
            <a:gdLst/>
            <a:ahLst/>
            <a:cxnLst/>
            <a:rect r="r" b="b" t="t" l="l"/>
            <a:pathLst>
              <a:path h="6590619" w="6874209">
                <a:moveTo>
                  <a:pt x="0" y="0"/>
                </a:moveTo>
                <a:lnTo>
                  <a:pt x="6874209" y="0"/>
                </a:lnTo>
                <a:lnTo>
                  <a:pt x="6874209" y="6590619"/>
                </a:lnTo>
                <a:lnTo>
                  <a:pt x="0" y="65906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933261" y="3392015"/>
            <a:ext cx="9683840" cy="4561701"/>
          </a:xfrm>
          <a:custGeom>
            <a:avLst/>
            <a:gdLst/>
            <a:ahLst/>
            <a:cxnLst/>
            <a:rect r="r" b="b" t="t" l="l"/>
            <a:pathLst>
              <a:path h="4561701" w="9683840">
                <a:moveTo>
                  <a:pt x="0" y="0"/>
                </a:moveTo>
                <a:lnTo>
                  <a:pt x="9683840" y="0"/>
                </a:lnTo>
                <a:lnTo>
                  <a:pt x="9683840" y="4561701"/>
                </a:lnTo>
                <a:lnTo>
                  <a:pt x="0" y="45617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047750"/>
            <a:ext cx="7031406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Capturas del sistema {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557135" y="8675370"/>
            <a:ext cx="702165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2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68307" y="2803761"/>
            <a:ext cx="6177944" cy="5372798"/>
          </a:xfrm>
          <a:custGeom>
            <a:avLst/>
            <a:gdLst/>
            <a:ahLst/>
            <a:cxnLst/>
            <a:rect r="r" b="b" t="t" l="l"/>
            <a:pathLst>
              <a:path h="5372798" w="6177944">
                <a:moveTo>
                  <a:pt x="0" y="0"/>
                </a:moveTo>
                <a:lnTo>
                  <a:pt x="6177944" y="0"/>
                </a:lnTo>
                <a:lnTo>
                  <a:pt x="6177944" y="5372798"/>
                </a:lnTo>
                <a:lnTo>
                  <a:pt x="0" y="53727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482852" y="2125868"/>
            <a:ext cx="9048344" cy="6728584"/>
          </a:xfrm>
          <a:custGeom>
            <a:avLst/>
            <a:gdLst/>
            <a:ahLst/>
            <a:cxnLst/>
            <a:rect r="r" b="b" t="t" l="l"/>
            <a:pathLst>
              <a:path h="6728584" w="9048344">
                <a:moveTo>
                  <a:pt x="0" y="0"/>
                </a:moveTo>
                <a:lnTo>
                  <a:pt x="9048344" y="0"/>
                </a:lnTo>
                <a:lnTo>
                  <a:pt x="9048344" y="6728584"/>
                </a:lnTo>
                <a:lnTo>
                  <a:pt x="0" y="67285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047750"/>
            <a:ext cx="7031406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Capturas del sistema {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557135" y="8675370"/>
            <a:ext cx="702165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202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70578" y="-102870"/>
            <a:ext cx="9426394" cy="10389870"/>
            <a:chOff x="0" y="0"/>
            <a:chExt cx="3438774" cy="37902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38774" cy="3790253"/>
            </a:xfrm>
            <a:custGeom>
              <a:avLst/>
              <a:gdLst/>
              <a:ahLst/>
              <a:cxnLst/>
              <a:rect r="r" b="b" t="t" l="l"/>
              <a:pathLst>
                <a:path h="3790253" w="3438774">
                  <a:moveTo>
                    <a:pt x="0" y="0"/>
                  </a:moveTo>
                  <a:lnTo>
                    <a:pt x="3438774" y="0"/>
                  </a:lnTo>
                  <a:lnTo>
                    <a:pt x="3438774" y="3790253"/>
                  </a:lnTo>
                  <a:lnTo>
                    <a:pt x="0" y="3790253"/>
                  </a:lnTo>
                  <a:close/>
                </a:path>
              </a:pathLst>
            </a:custGeom>
            <a:solidFill>
              <a:srgbClr val="2D2D35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3650840" y="4223853"/>
            <a:ext cx="11209953" cy="1858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69"/>
              </a:lnSpc>
            </a:pPr>
            <a:r>
              <a:rPr lang="en-US" sz="6377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Demostración del sistema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557135" y="8675370"/>
            <a:ext cx="702165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202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70578" y="-102870"/>
            <a:ext cx="9426394" cy="10389870"/>
            <a:chOff x="0" y="0"/>
            <a:chExt cx="3438774" cy="37902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38774" cy="3790253"/>
            </a:xfrm>
            <a:custGeom>
              <a:avLst/>
              <a:gdLst/>
              <a:ahLst/>
              <a:cxnLst/>
              <a:rect r="r" b="b" t="t" l="l"/>
              <a:pathLst>
                <a:path h="3790253" w="3438774">
                  <a:moveTo>
                    <a:pt x="0" y="0"/>
                  </a:moveTo>
                  <a:lnTo>
                    <a:pt x="3438774" y="0"/>
                  </a:lnTo>
                  <a:lnTo>
                    <a:pt x="3438774" y="3790253"/>
                  </a:lnTo>
                  <a:lnTo>
                    <a:pt x="0" y="3790253"/>
                  </a:lnTo>
                  <a:close/>
                </a:path>
              </a:pathLst>
            </a:custGeom>
            <a:solidFill>
              <a:srgbClr val="2D2D35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3650840" y="4681053"/>
            <a:ext cx="11209953" cy="943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69"/>
              </a:lnSpc>
            </a:pPr>
            <a:r>
              <a:rPr lang="en-US" sz="6377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¡Gracias!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557135" y="8675370"/>
            <a:ext cx="702165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DAG5Xemvoa0</dc:identifier>
  <dcterms:modified xsi:type="dcterms:W3CDTF">2011-08-01T06:04:30Z</dcterms:modified>
  <cp:revision>1</cp:revision>
  <dc:title>Presentación Técnica Código Programación Minimalista Gris</dc:title>
</cp:coreProperties>
</file>